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DF8B-E4F3-F5C5-22EB-C346465C1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7573C-C0FF-0BAF-A7AC-51750B82D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C448-534C-46E7-6F21-F56D1E73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193E6-232B-EA3C-1EB9-B505216E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CF473-DB3F-5FC4-2E3E-E9534F55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9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C99E-0EBE-7226-0E97-37B6D145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6421-1B63-A4C2-1DC3-35DD14475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1B5EF-0A61-5D0E-F2B7-A6BA5663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3A171-0FD5-2164-AFB8-99FF2EF7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17806-BF4E-BD55-CA4E-09257BC6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9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3107-BF39-31BA-6003-D5FC5105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EA64A-1AFE-2037-969A-035F5A57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98FF1-0626-057A-1709-474D061C0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A9502-6F22-92CF-36FF-D922CB9A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FF388-12E3-D79E-6D87-85134657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4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2C2E-9831-5836-7DD9-7EB6CDAE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232D3-B099-D10E-8AA5-F26843FF4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1AE5-B4F6-CE0A-3F2C-1528B8B4F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EE97-E8D7-E3A1-A15D-7DEDD079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8BC78-579F-8E56-FAF5-AC42B57C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0A09B-B652-553B-D05C-9B1BFC4A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9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0773-6CBC-C457-D420-663E0352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3C012-34CC-1E13-9B17-962403129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2F306-780B-6090-0073-FB13360A5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748D7-75B9-D886-2C73-B985E7F82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150DC-2D6D-9A2A-8723-C88816CDF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9D15B-E2E6-B42D-AF27-98BC2EDD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912DC-0F50-398D-E3CD-AC210635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593DE-5682-018E-BE85-C13C1266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2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5E15-4D12-DFB8-910D-B5C8C268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A993C-DB78-15FC-39C6-DFE99CFF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85E9E-672E-BDD2-5C00-5B129BC1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24FE-E0F0-EECE-11F9-93474290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3BE35-DD26-6EBA-8FAA-60D77D9E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05981-FD26-9963-A64C-C4C7E05A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F43D-856A-5B8E-F6BB-B01061A1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16D3-EF17-DDF1-D8D9-F940BB2A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9CC2-46E3-0574-1FFE-BE5A403C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B1548-352C-8FEF-182D-3B7D08EFE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52625-DABC-6B48-DD13-26726A46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E79B4-4233-A75E-86A8-455B7EFA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73748-2CA9-F698-DF49-05F08AD9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6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C97E-832F-D3E9-5CC2-62B863BE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608D0-916F-C7F2-B457-011A2454C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13847-00C9-27F1-93B0-1AC17EA2E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281D7-7B27-666D-1CF6-32BAC378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29461-1D11-FC04-5E33-999DEE7A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00479-646F-B80C-2D73-00DA974A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7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FB10-6426-788E-E13F-098A6018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7BD73-A8B4-D3ED-AC90-593F18AA2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953B9-2658-32CF-DAB2-744C3FA6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424F-9F97-D8D6-F282-35D5A1A8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6565D-D788-EFDD-A656-975F9DA5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9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D5CA0-4441-BF66-8E96-66829583F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3F632-047A-1677-AA32-D2DB49D7F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78F81-12AF-49FB-D3C6-A645F36D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D6F48-B692-E653-3F81-AFBE9B88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2D432-2E3B-D3F6-51B3-92712DFE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7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6A2B5-1F25-49EA-8FDA-9849B1D3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9BDD7-47AF-DCFE-EE7F-BAB3295D5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FFD3-EA79-C141-4D19-8C1929C1C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C5E97-2AC1-48CA-9740-3EB00D99971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52EFD-9DA6-D348-947C-F9D11C15C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FC8D-6581-43C9-6CF6-619470E6C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E0F1A-4D44-4243-9158-8C240429B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2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0B3CD8-FD66-DF3A-58AA-13B83739B57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1D6BE-6A9A-66AE-6163-B5CD7BFF4A84}"/>
              </a:ext>
            </a:extLst>
          </p:cNvPr>
          <p:cNvSpPr txBox="1"/>
          <p:nvPr/>
        </p:nvSpPr>
        <p:spPr>
          <a:xfrm>
            <a:off x="762000" y="1968500"/>
            <a:ext cx="889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ISOFlow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25A39-A00B-4D89-D964-96FE5757343B}"/>
              </a:ext>
            </a:extLst>
          </p:cNvPr>
          <p:cNvSpPr txBox="1"/>
          <p:nvPr/>
        </p:nvSpPr>
        <p:spPr>
          <a:xfrm>
            <a:off x="787400" y="2921000"/>
            <a:ext cx="889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60A5FA"/>
                </a:solidFill>
              </a:rPr>
              <a:t>ISO Compliance Management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E2B64-6484-1D42-1515-B30ABC1234F6}"/>
              </a:ext>
            </a:extLst>
          </p:cNvPr>
          <p:cNvSpPr txBox="1"/>
          <p:nvPr/>
        </p:nvSpPr>
        <p:spPr>
          <a:xfrm>
            <a:off x="787400" y="34544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E2E8F0"/>
                </a:solidFill>
              </a:rPr>
              <a:t>Executive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962A6-A036-1482-3C41-CA9C33EEC905}"/>
              </a:ext>
            </a:extLst>
          </p:cNvPr>
          <p:cNvSpPr txBox="1"/>
          <p:nvPr/>
        </p:nvSpPr>
        <p:spPr>
          <a:xfrm>
            <a:off x="787400" y="59055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E2E8F0"/>
                </a:solidFill>
              </a:rPr>
              <a:t>Prepared by Devrepublic  -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9277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28A728-3128-3203-5019-FED7F6FDEFA0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E7A5B-4472-E62F-1635-62BDC28B8FF5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What We Will Cover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4CC862-DBB0-F365-1E09-ACF77C81300C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37137-38FE-BF79-A5BD-361577E72E4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F317B-C176-70FA-3DB2-F12355FDBE56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7664B-B63E-A54D-37A0-089FE095E44F}"/>
              </a:ext>
            </a:extLst>
          </p:cNvPr>
          <p:cNvSpPr txBox="1"/>
          <p:nvPr/>
        </p:nvSpPr>
        <p:spPr>
          <a:xfrm>
            <a:off x="508000" y="1778000"/>
            <a:ext cx="10922000" cy="49346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What is ISOFlow?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The compliance challenge we solve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End-to-end compliance traceability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Executive dashboard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Core platform modules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Risk management and the risk matrix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Audit management, findings and CAPA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Day-to-day task, evidence and calendar tools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Multi-tenant organizations and user roles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Full audit trail and reporting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Why ISOFlow</a:t>
            </a:r>
          </a:p>
        </p:txBody>
      </p:sp>
    </p:spTree>
    <p:extLst>
      <p:ext uri="{BB962C8B-B14F-4D97-AF65-F5344CB8AC3E}">
        <p14:creationId xmlns:p14="http://schemas.microsoft.com/office/powerpoint/2010/main" val="199510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90D95-4656-59B8-B969-960BC1C4C6E6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A7551-0BFC-93BF-6FC7-1335935BCC1F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What is ISOFlow?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D8ED4-7CF6-1CC8-F3F1-BFB4615A1D8E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66F1E-5E94-F30F-2BC9-5254CED33BD7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38EBF-ACF5-B72E-0EFA-F0B90BCA9310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0571C-0091-32E9-FF4B-8E38FE8F73CF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 single, connected platform to plan, track and prove ISO compliance - for ISO 27001 and other standards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Replaces scattered spreadsheets and shared drives with one live system of record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Every requirement, control, risk, policy, task and piece of evidence is linked together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Gives leadership a real-time view of compliance health, at any moment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Keeps the organization audit-ready every day, not just before an audit</a:t>
            </a:r>
          </a:p>
        </p:txBody>
      </p:sp>
    </p:spTree>
    <p:extLst>
      <p:ext uri="{BB962C8B-B14F-4D97-AF65-F5344CB8AC3E}">
        <p14:creationId xmlns:p14="http://schemas.microsoft.com/office/powerpoint/2010/main" val="215781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BCC88-F268-6E10-83BB-4CA046A9908E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WHY IT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81509-1226-D318-1DC2-4F15618FBF09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The Compliance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538C91-1F69-AAD4-05A3-49DB67B4D9D9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14FC4-03DB-9B66-F308-7341A83794C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E95B0-2E9B-5982-EEB3-56E7B72AC1E4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4CC85-D275-2421-439A-011ECF69A889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Evidence spread across spreadsheets, email threads and shared folders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No clear line from a risk to the control that mitigates it, or the policy behind it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Audit preparation becomes a scramble in the weeks before the assessor arrives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Corrective actions get lost after the audit closing meeting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Leadership lacks one simple answer to: are we compliant right now?</a:t>
            </a:r>
          </a:p>
        </p:txBody>
      </p:sp>
    </p:spTree>
    <p:extLst>
      <p:ext uri="{BB962C8B-B14F-4D97-AF65-F5344CB8AC3E}">
        <p14:creationId xmlns:p14="http://schemas.microsoft.com/office/powerpoint/2010/main" val="277431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9523B5-7C04-DDE2-2802-E22781CBB958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THE GOLDEN THREAD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1EF9C-8611-1246-8CCD-40C32B6CB9F5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End-to-End Compliance Traceability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A1033-C9AD-3F62-328A-7FDB609E2901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3A7E8A-2BFB-786B-653B-63EC69A284C2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DD1AB-9078-F306-9B57-C3CF5EF4281F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4D6114-10AB-DF51-9196-01964AD63AA7}"/>
              </a:ext>
            </a:extLst>
          </p:cNvPr>
          <p:cNvSpPr/>
          <p:nvPr/>
        </p:nvSpPr>
        <p:spPr>
          <a:xfrm>
            <a:off x="508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52A42-8C70-9E9A-539A-45554063AD23}"/>
              </a:ext>
            </a:extLst>
          </p:cNvPr>
          <p:cNvSpPr txBox="1"/>
          <p:nvPr/>
        </p:nvSpPr>
        <p:spPr>
          <a:xfrm>
            <a:off x="2133600" y="1905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395103-BE6D-AEC6-3E84-EFDDAF498925}"/>
              </a:ext>
            </a:extLst>
          </p:cNvPr>
          <p:cNvSpPr/>
          <p:nvPr/>
        </p:nvSpPr>
        <p:spPr>
          <a:xfrm>
            <a:off x="2413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1EDAC-F873-4136-3E1B-4A4D2EDE2104}"/>
              </a:ext>
            </a:extLst>
          </p:cNvPr>
          <p:cNvSpPr txBox="1"/>
          <p:nvPr/>
        </p:nvSpPr>
        <p:spPr>
          <a:xfrm>
            <a:off x="4038600" y="1905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0AC6DA-7E09-6936-FBFA-43841986F438}"/>
              </a:ext>
            </a:extLst>
          </p:cNvPr>
          <p:cNvSpPr/>
          <p:nvPr/>
        </p:nvSpPr>
        <p:spPr>
          <a:xfrm>
            <a:off x="4318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22CDCA-54DD-325A-CEAC-41AA9998436E}"/>
              </a:ext>
            </a:extLst>
          </p:cNvPr>
          <p:cNvSpPr txBox="1"/>
          <p:nvPr/>
        </p:nvSpPr>
        <p:spPr>
          <a:xfrm>
            <a:off x="5943600" y="1905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6F5F5-7BA9-11EB-A705-555A15472D28}"/>
              </a:ext>
            </a:extLst>
          </p:cNvPr>
          <p:cNvSpPr/>
          <p:nvPr/>
        </p:nvSpPr>
        <p:spPr>
          <a:xfrm>
            <a:off x="6223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20E69-4779-7E07-ACDF-C3C23FF4C3DE}"/>
              </a:ext>
            </a:extLst>
          </p:cNvPr>
          <p:cNvSpPr txBox="1"/>
          <p:nvPr/>
        </p:nvSpPr>
        <p:spPr>
          <a:xfrm>
            <a:off x="7848600" y="1905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C79C7B-DE53-38F6-F22C-D8FA7787E94F}"/>
              </a:ext>
            </a:extLst>
          </p:cNvPr>
          <p:cNvSpPr/>
          <p:nvPr/>
        </p:nvSpPr>
        <p:spPr>
          <a:xfrm>
            <a:off x="8128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Treatment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8FCA8-4149-320E-372E-46FD6E445C8A}"/>
              </a:ext>
            </a:extLst>
          </p:cNvPr>
          <p:cNvSpPr txBox="1"/>
          <p:nvPr/>
        </p:nvSpPr>
        <p:spPr>
          <a:xfrm>
            <a:off x="9753600" y="1905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1603B1-983E-00AD-9FE1-4AAE9A3DCC35}"/>
              </a:ext>
            </a:extLst>
          </p:cNvPr>
          <p:cNvSpPr/>
          <p:nvPr/>
        </p:nvSpPr>
        <p:spPr>
          <a:xfrm>
            <a:off x="10033000" y="1905000"/>
            <a:ext cx="1625600" cy="7112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Policy / Process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CF6991-3585-2F30-F9F4-F8A0A001B0E5}"/>
              </a:ext>
            </a:extLst>
          </p:cNvPr>
          <p:cNvSpPr/>
          <p:nvPr/>
        </p:nvSpPr>
        <p:spPr>
          <a:xfrm>
            <a:off x="508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1AFE16-2483-11C8-324B-9E7713C529BF}"/>
              </a:ext>
            </a:extLst>
          </p:cNvPr>
          <p:cNvSpPr txBox="1"/>
          <p:nvPr/>
        </p:nvSpPr>
        <p:spPr>
          <a:xfrm>
            <a:off x="2133600" y="3302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FFF59B-3A31-69F2-D491-900801AB583E}"/>
              </a:ext>
            </a:extLst>
          </p:cNvPr>
          <p:cNvSpPr/>
          <p:nvPr/>
        </p:nvSpPr>
        <p:spPr>
          <a:xfrm>
            <a:off x="2413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45738B-593F-FC8E-27EB-214E74B190BE}"/>
              </a:ext>
            </a:extLst>
          </p:cNvPr>
          <p:cNvSpPr txBox="1"/>
          <p:nvPr/>
        </p:nvSpPr>
        <p:spPr>
          <a:xfrm>
            <a:off x="4038600" y="3302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E22CC37-5AB3-1422-89DB-6BD552F279C6}"/>
              </a:ext>
            </a:extLst>
          </p:cNvPr>
          <p:cNvSpPr/>
          <p:nvPr/>
        </p:nvSpPr>
        <p:spPr>
          <a:xfrm>
            <a:off x="4318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FFF5C-7890-D799-5190-463DD496BBAC}"/>
              </a:ext>
            </a:extLst>
          </p:cNvPr>
          <p:cNvSpPr txBox="1"/>
          <p:nvPr/>
        </p:nvSpPr>
        <p:spPr>
          <a:xfrm>
            <a:off x="5943600" y="3302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43FBF17-E3C3-91B1-A953-F20B4CB3A99F}"/>
              </a:ext>
            </a:extLst>
          </p:cNvPr>
          <p:cNvSpPr/>
          <p:nvPr/>
        </p:nvSpPr>
        <p:spPr>
          <a:xfrm>
            <a:off x="6223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1B2B78-39BE-9FD8-A8D4-14727C8EF7F0}"/>
              </a:ext>
            </a:extLst>
          </p:cNvPr>
          <p:cNvSpPr txBox="1"/>
          <p:nvPr/>
        </p:nvSpPr>
        <p:spPr>
          <a:xfrm>
            <a:off x="7848600" y="3302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3D12C0-9763-1754-6D04-7CCE955F9C48}"/>
              </a:ext>
            </a:extLst>
          </p:cNvPr>
          <p:cNvSpPr/>
          <p:nvPr/>
        </p:nvSpPr>
        <p:spPr>
          <a:xfrm>
            <a:off x="8128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CAPA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79CEB-787A-63A4-AAF6-EBE95AA3384D}"/>
              </a:ext>
            </a:extLst>
          </p:cNvPr>
          <p:cNvSpPr txBox="1"/>
          <p:nvPr/>
        </p:nvSpPr>
        <p:spPr>
          <a:xfrm>
            <a:off x="9753600" y="3302000"/>
            <a:ext cx="2794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</a:rPr>
              <a:t>→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60F0C62-A13B-0FE1-F8A9-332E9B3F1651}"/>
              </a:ext>
            </a:extLst>
          </p:cNvPr>
          <p:cNvSpPr/>
          <p:nvPr/>
        </p:nvSpPr>
        <p:spPr>
          <a:xfrm>
            <a:off x="10033000" y="3302000"/>
            <a:ext cx="1625600" cy="7112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77C347-AA7C-12E7-0354-CC195986A8A5}"/>
              </a:ext>
            </a:extLst>
          </p:cNvPr>
          <p:cNvSpPr txBox="1"/>
          <p:nvPr/>
        </p:nvSpPr>
        <p:spPr>
          <a:xfrm>
            <a:off x="508000" y="4381500"/>
            <a:ext cx="11176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i="1">
                <a:solidFill>
                  <a:srgbClr val="64748B"/>
                </a:solidFill>
              </a:rPr>
              <a:t>Every item links forward and backward. Click any record to trace its full compliance story - from the standard clause all the way to the closed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5296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60CF05-524F-1442-EF6E-2E726E2DC711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REAL-TIME VISIBILITY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21034-4E35-4B35-AD7A-C1E99ACD47FF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Executive Dashboard at a Glance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9689C-BC9F-1269-423D-42115D7C83CE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12CEEE-8402-C3BC-0639-07943312857B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B5E73-CEB9-E2FE-E751-62B99890B6BA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3E40C6-3DEC-BD7F-4E3A-6629F6412835}"/>
              </a:ext>
            </a:extLst>
          </p:cNvPr>
          <p:cNvSpPr/>
          <p:nvPr/>
        </p:nvSpPr>
        <p:spPr>
          <a:xfrm>
            <a:off x="508000" y="17780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OVERALL COMPLIANCE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82.5%</a:t>
            </a:r>
          </a:p>
          <a:p>
            <a:pPr algn="ctr"/>
            <a:r>
              <a:rPr lang="en-US" sz="1000">
                <a:solidFill>
                  <a:srgbClr val="2563EB"/>
                </a:solidFill>
              </a:rPr>
              <a:t>+3.2% vs last quarter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638B14-AE59-93D3-AEC8-A35FDAFFB565}"/>
              </a:ext>
            </a:extLst>
          </p:cNvPr>
          <p:cNvSpPr/>
          <p:nvPr/>
        </p:nvSpPr>
        <p:spPr>
          <a:xfrm>
            <a:off x="3302000" y="17780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CONTROLS IMPLEMENTED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87 / 105</a:t>
            </a:r>
          </a:p>
          <a:p>
            <a:pPr algn="ctr"/>
            <a:r>
              <a:rPr lang="en-US" sz="1000">
                <a:solidFill>
                  <a:srgbClr val="16A34A"/>
                </a:solidFill>
              </a:rPr>
              <a:t>82.8% implementation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D613C0-D24F-2338-2350-882806580CD5}"/>
              </a:ext>
            </a:extLst>
          </p:cNvPr>
          <p:cNvSpPr/>
          <p:nvPr/>
        </p:nvSpPr>
        <p:spPr>
          <a:xfrm>
            <a:off x="6096000" y="17780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OPEN RISKS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2</a:t>
            </a:r>
          </a:p>
          <a:p>
            <a:pPr algn="ctr"/>
            <a:r>
              <a:rPr lang="en-US" sz="1000">
                <a:solidFill>
                  <a:srgbClr val="D97706"/>
                </a:solidFill>
              </a:rPr>
              <a:t>3 critical / high risks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6E0D79-B7AB-6A3F-2549-6030C216B667}"/>
              </a:ext>
            </a:extLst>
          </p:cNvPr>
          <p:cNvSpPr/>
          <p:nvPr/>
        </p:nvSpPr>
        <p:spPr>
          <a:xfrm>
            <a:off x="8890000" y="17780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OPEN FINDINGS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2</a:t>
            </a:r>
          </a:p>
          <a:p>
            <a:pPr algn="ctr"/>
            <a:r>
              <a:rPr lang="en-US" sz="1000">
                <a:solidFill>
                  <a:srgbClr val="DC2626"/>
                </a:solidFill>
              </a:rPr>
              <a:t>1 major NC active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C23017-25C0-9E42-43EE-CFCC683D2926}"/>
              </a:ext>
            </a:extLst>
          </p:cNvPr>
          <p:cNvSpPr/>
          <p:nvPr/>
        </p:nvSpPr>
        <p:spPr>
          <a:xfrm>
            <a:off x="508000" y="32385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OVERDUE ACTIONS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5</a:t>
            </a:r>
          </a:p>
          <a:p>
            <a:pPr algn="ctr"/>
            <a:r>
              <a:rPr lang="en-US" sz="1000">
                <a:solidFill>
                  <a:srgbClr val="60A5FA"/>
                </a:solidFill>
              </a:rPr>
              <a:t>requires immediate follow-up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4B7129-6203-2A54-170B-9DD5D6253C8D}"/>
              </a:ext>
            </a:extLst>
          </p:cNvPr>
          <p:cNvSpPr/>
          <p:nvPr/>
        </p:nvSpPr>
        <p:spPr>
          <a:xfrm>
            <a:off x="3302000" y="32385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PENDING EVIDENCE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12</a:t>
            </a:r>
          </a:p>
          <a:p>
            <a:pPr algn="ctr"/>
            <a:r>
              <a:rPr lang="en-US" sz="1000">
                <a:solidFill>
                  <a:srgbClr val="64748B"/>
                </a:solidFill>
              </a:rPr>
              <a:t>4 expiring within 30 days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B9447C-75A3-3BEB-2ADC-C9FD682E64BE}"/>
              </a:ext>
            </a:extLst>
          </p:cNvPr>
          <p:cNvSpPr/>
          <p:nvPr/>
        </p:nvSpPr>
        <p:spPr>
          <a:xfrm>
            <a:off x="6096000" y="32385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OPEN CAPA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3</a:t>
            </a:r>
          </a:p>
          <a:p>
            <a:pPr algn="ctr"/>
            <a:r>
              <a:rPr lang="en-US" sz="1000">
                <a:solidFill>
                  <a:srgbClr val="2563EB"/>
                </a:solidFill>
              </a:rPr>
              <a:t>1 in progress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64B421-CA12-D6C0-ABD3-CDF4C8700DDA}"/>
              </a:ext>
            </a:extLst>
          </p:cNvPr>
          <p:cNvSpPr/>
          <p:nvPr/>
        </p:nvSpPr>
        <p:spPr>
          <a:xfrm>
            <a:off x="8890000" y="3238500"/>
            <a:ext cx="26035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1600" bIns="50800" rtlCol="0" anchor="ctr"/>
          <a:lstStyle/>
          <a:p>
            <a:pPr algn="ctr"/>
            <a:r>
              <a:rPr lang="en-US" sz="1100" b="1">
                <a:solidFill>
                  <a:srgbClr val="64748B"/>
                </a:solidFill>
              </a:rPr>
              <a:t>AUDIT READINESS</a:t>
            </a:r>
          </a:p>
          <a:p>
            <a:pPr algn="ctr"/>
            <a:r>
              <a:rPr lang="en-US" sz="2600" b="1">
                <a:solidFill>
                  <a:srgbClr val="0F172A"/>
                </a:solidFill>
              </a:rPr>
              <a:t>88%</a:t>
            </a:r>
          </a:p>
          <a:p>
            <a:pPr algn="ctr"/>
            <a:r>
              <a:rPr lang="en-US" sz="1000">
                <a:solidFill>
                  <a:srgbClr val="16A34A"/>
                </a:solidFill>
              </a:rPr>
              <a:t>target reached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1E0E2-7BAE-9F78-048B-C41F523CC5C6}"/>
              </a:ext>
            </a:extLst>
          </p:cNvPr>
          <p:cNvSpPr txBox="1"/>
          <p:nvPr/>
        </p:nvSpPr>
        <p:spPr>
          <a:xfrm>
            <a:off x="508000" y="4826000"/>
            <a:ext cx="1117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i="1">
                <a:solidFill>
                  <a:srgbClr val="64748B"/>
                </a:solidFill>
              </a:rPr>
              <a:t>One screen answers the question every leadership team asks: where do we stand today?</a:t>
            </a:r>
          </a:p>
        </p:txBody>
      </p:sp>
    </p:spTree>
    <p:extLst>
      <p:ext uri="{BB962C8B-B14F-4D97-AF65-F5344CB8AC3E}">
        <p14:creationId xmlns:p14="http://schemas.microsoft.com/office/powerpoint/2010/main" val="201268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3E790-C144-920F-5FA2-017BF59EA060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ONE PLATFORM, EVERY DISCIPLINE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35AD7-F07C-8494-3AC1-2D74852AA07F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Core Platform Modules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6F95F-0A5B-9B1A-02A1-455E1153656F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C1A45-A684-29D9-E035-9A71300C8B8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F9DB6-0339-1A66-B5DA-0745E124D3FE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3CEB2F-C879-F74B-F21E-423D3270BB36}"/>
              </a:ext>
            </a:extLst>
          </p:cNvPr>
          <p:cNvSpPr/>
          <p:nvPr/>
        </p:nvSpPr>
        <p:spPr>
          <a:xfrm>
            <a:off x="508000" y="17780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ISO Standards Library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Manage multiple standards, clauses and requirements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389B56-4D18-1F4C-9D89-4E2A394E8FA9}"/>
              </a:ext>
            </a:extLst>
          </p:cNvPr>
          <p:cNvSpPr/>
          <p:nvPr/>
        </p:nvSpPr>
        <p:spPr>
          <a:xfrm>
            <a:off x="4140200" y="17780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Controls Register &amp; SoA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Track control implementation and applicability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EC7C58-6F8C-44E8-B8D2-A2CA91D441EC}"/>
              </a:ext>
            </a:extLst>
          </p:cNvPr>
          <p:cNvSpPr/>
          <p:nvPr/>
        </p:nvSpPr>
        <p:spPr>
          <a:xfrm>
            <a:off x="7772400" y="17780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Risk Register &amp; 5x5 Matrix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Identify, score and visualize risk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47BA03-88A4-9F29-6D92-E2EB522494E9}"/>
              </a:ext>
            </a:extLst>
          </p:cNvPr>
          <p:cNvSpPr/>
          <p:nvPr/>
        </p:nvSpPr>
        <p:spPr>
          <a:xfrm>
            <a:off x="508000" y="33782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Policies &amp; Processes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Central repository for policies and process maps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CC47F3-F0BD-4777-DE1F-0E02D750E40F}"/>
              </a:ext>
            </a:extLst>
          </p:cNvPr>
          <p:cNvSpPr/>
          <p:nvPr/>
        </p:nvSpPr>
        <p:spPr>
          <a:xfrm>
            <a:off x="4140200" y="33782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Kanban &amp; Calendar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Plan and track tasks and deadlines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699C72-0E80-C3C2-FE57-EAE08E9A212C}"/>
              </a:ext>
            </a:extLst>
          </p:cNvPr>
          <p:cNvSpPr/>
          <p:nvPr/>
        </p:nvSpPr>
        <p:spPr>
          <a:xfrm>
            <a:off x="7772400" y="33782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Evidence Vault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Store evidence and track expiry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B61893-2C18-D534-44DA-28995ECCB8D2}"/>
              </a:ext>
            </a:extLst>
          </p:cNvPr>
          <p:cNvSpPr/>
          <p:nvPr/>
        </p:nvSpPr>
        <p:spPr>
          <a:xfrm>
            <a:off x="508000" y="49784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Audit Management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Plan, run and record audits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6958A7-1856-16A2-D7DA-814AA4ACF0A7}"/>
              </a:ext>
            </a:extLst>
          </p:cNvPr>
          <p:cNvSpPr/>
          <p:nvPr/>
        </p:nvSpPr>
        <p:spPr>
          <a:xfrm>
            <a:off x="4140200" y="49784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Findings &amp; CAPA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Track non-conformities to closure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BA2B08-524E-03E4-AD6D-5E5EB89B1FA1}"/>
              </a:ext>
            </a:extLst>
          </p:cNvPr>
          <p:cNvSpPr/>
          <p:nvPr/>
        </p:nvSpPr>
        <p:spPr>
          <a:xfrm>
            <a:off x="7772400" y="4978400"/>
            <a:ext cx="34036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rtlCol="0" anchor="ctr"/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Reviews &amp; Improvement</a:t>
            </a:r>
          </a:p>
          <a:p>
            <a:pPr algn="ctr"/>
            <a:r>
              <a:rPr lang="en-US" sz="1200">
                <a:solidFill>
                  <a:srgbClr val="64748B"/>
                </a:solidFill>
              </a:rPr>
              <a:t>Governance reviews and continual improvement</a:t>
            </a:r>
          </a:p>
        </p:txBody>
      </p:sp>
    </p:spTree>
    <p:extLst>
      <p:ext uri="{BB962C8B-B14F-4D97-AF65-F5344CB8AC3E}">
        <p14:creationId xmlns:p14="http://schemas.microsoft.com/office/powerpoint/2010/main" val="199305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44A14-5C44-4DBD-893B-4C346DD1FA48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KNOW YOUR EXPOSURE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D3FFB-377B-ADF6-A1F5-97F7AD9BE091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Risk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DAA91-2F2A-B57E-E253-F5C2E781A8E4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6F259-BA1B-7BCA-8A79-C7E4517F6772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6BB98-F2AE-429A-163D-573808C572CB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E4ED2-0396-B62F-9FF8-F44804D5401B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Centralized Risk Register covering every identified risk across the organization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Each risk is scored using Likelihood x Impact for objective prioritization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Risks link directly to the controls and requirements they relate to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Risk Treatments document how each risk is being reduced or accepted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Instantly see which risks are Critical, High, Medium or Low priority</a:t>
            </a:r>
          </a:p>
        </p:txBody>
      </p:sp>
    </p:spTree>
    <p:extLst>
      <p:ext uri="{BB962C8B-B14F-4D97-AF65-F5344CB8AC3E}">
        <p14:creationId xmlns:p14="http://schemas.microsoft.com/office/powerpoint/2010/main" val="278223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25D26-0F67-8D5A-5976-535708BC0AD2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VISUAL RISK PRIORITIZATION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47F68-83B4-0C27-E6AC-E9030631F0F8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The 5x5 Risk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A210D-F877-41C4-1D19-07E03B3C8492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A429F-817B-F30E-23AD-507E175742E0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A435A-0E92-441F-A2F1-899041ADF987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2D7C0-21D8-58E5-EFCC-68C79550736A}"/>
              </a:ext>
            </a:extLst>
          </p:cNvPr>
          <p:cNvSpPr/>
          <p:nvPr/>
        </p:nvSpPr>
        <p:spPr>
          <a:xfrm>
            <a:off x="3771900" y="19050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037DA-3E74-8DF7-8EC1-FCD37FCBA878}"/>
              </a:ext>
            </a:extLst>
          </p:cNvPr>
          <p:cNvSpPr/>
          <p:nvPr/>
        </p:nvSpPr>
        <p:spPr>
          <a:xfrm>
            <a:off x="4711700" y="19050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737D44-F8D9-B570-B776-49B7F0DD2103}"/>
              </a:ext>
            </a:extLst>
          </p:cNvPr>
          <p:cNvSpPr/>
          <p:nvPr/>
        </p:nvSpPr>
        <p:spPr>
          <a:xfrm>
            <a:off x="5651500" y="19050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A823A6-2E81-96FC-BE4A-395D889C5847}"/>
              </a:ext>
            </a:extLst>
          </p:cNvPr>
          <p:cNvSpPr/>
          <p:nvPr/>
        </p:nvSpPr>
        <p:spPr>
          <a:xfrm>
            <a:off x="6591300" y="1905000"/>
            <a:ext cx="889000" cy="50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15473C-3E84-E723-FE52-DA9A1B804DA7}"/>
              </a:ext>
            </a:extLst>
          </p:cNvPr>
          <p:cNvSpPr/>
          <p:nvPr/>
        </p:nvSpPr>
        <p:spPr>
          <a:xfrm>
            <a:off x="7531100" y="1905000"/>
            <a:ext cx="889000" cy="50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19570-E665-55D7-648F-3583B1ADC776}"/>
              </a:ext>
            </a:extLst>
          </p:cNvPr>
          <p:cNvSpPr txBox="1"/>
          <p:nvPr/>
        </p:nvSpPr>
        <p:spPr>
          <a:xfrm>
            <a:off x="3263900" y="1905000"/>
            <a:ext cx="4318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L5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38B193-9D22-F084-6D63-52F4737EEB5E}"/>
              </a:ext>
            </a:extLst>
          </p:cNvPr>
          <p:cNvSpPr/>
          <p:nvPr/>
        </p:nvSpPr>
        <p:spPr>
          <a:xfrm>
            <a:off x="3771900" y="24638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EFD479-8AFB-CAF8-3E2B-FAE272077AF7}"/>
              </a:ext>
            </a:extLst>
          </p:cNvPr>
          <p:cNvSpPr/>
          <p:nvPr/>
        </p:nvSpPr>
        <p:spPr>
          <a:xfrm>
            <a:off x="4711700" y="24638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9BEEF6-10B9-812C-F6A8-2ECEB47F1B42}"/>
              </a:ext>
            </a:extLst>
          </p:cNvPr>
          <p:cNvSpPr/>
          <p:nvPr/>
        </p:nvSpPr>
        <p:spPr>
          <a:xfrm>
            <a:off x="5651500" y="24638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2A648E-0CA0-E349-08B2-CF83DB78C9F8}"/>
              </a:ext>
            </a:extLst>
          </p:cNvPr>
          <p:cNvSpPr/>
          <p:nvPr/>
        </p:nvSpPr>
        <p:spPr>
          <a:xfrm>
            <a:off x="6591300" y="24638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EC1875-7DDF-2C30-6EB9-E0BD9AF184C8}"/>
              </a:ext>
            </a:extLst>
          </p:cNvPr>
          <p:cNvSpPr/>
          <p:nvPr/>
        </p:nvSpPr>
        <p:spPr>
          <a:xfrm>
            <a:off x="7531100" y="2463800"/>
            <a:ext cx="889000" cy="50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5677C1-4AAA-4B2D-3126-22301CD54DC6}"/>
              </a:ext>
            </a:extLst>
          </p:cNvPr>
          <p:cNvSpPr txBox="1"/>
          <p:nvPr/>
        </p:nvSpPr>
        <p:spPr>
          <a:xfrm>
            <a:off x="3263900" y="2463800"/>
            <a:ext cx="4318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L4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B98A1E-87E4-A3A1-2B95-53DCA637578A}"/>
              </a:ext>
            </a:extLst>
          </p:cNvPr>
          <p:cNvSpPr/>
          <p:nvPr/>
        </p:nvSpPr>
        <p:spPr>
          <a:xfrm>
            <a:off x="3771900" y="30226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9A9A72-70DC-6F24-550B-D51C43847E86}"/>
              </a:ext>
            </a:extLst>
          </p:cNvPr>
          <p:cNvSpPr/>
          <p:nvPr/>
        </p:nvSpPr>
        <p:spPr>
          <a:xfrm>
            <a:off x="4711700" y="30226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E17D01-EA9A-7C77-6AA9-94DA8FC0CB6E}"/>
              </a:ext>
            </a:extLst>
          </p:cNvPr>
          <p:cNvSpPr/>
          <p:nvPr/>
        </p:nvSpPr>
        <p:spPr>
          <a:xfrm>
            <a:off x="5651500" y="30226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A69578-3047-1F5D-5D65-D51636B21E1C}"/>
              </a:ext>
            </a:extLst>
          </p:cNvPr>
          <p:cNvSpPr/>
          <p:nvPr/>
        </p:nvSpPr>
        <p:spPr>
          <a:xfrm>
            <a:off x="6591300" y="30226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B5853-D560-D177-2A82-633FEFFF024A}"/>
              </a:ext>
            </a:extLst>
          </p:cNvPr>
          <p:cNvSpPr/>
          <p:nvPr/>
        </p:nvSpPr>
        <p:spPr>
          <a:xfrm>
            <a:off x="7531100" y="30226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D8E6C-CE61-A4CE-07D9-28D9BCF8B5CC}"/>
              </a:ext>
            </a:extLst>
          </p:cNvPr>
          <p:cNvSpPr txBox="1"/>
          <p:nvPr/>
        </p:nvSpPr>
        <p:spPr>
          <a:xfrm>
            <a:off x="3263900" y="3022600"/>
            <a:ext cx="4318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L3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FEA29-DA9F-7EB1-4499-30DF119CACC9}"/>
              </a:ext>
            </a:extLst>
          </p:cNvPr>
          <p:cNvSpPr/>
          <p:nvPr/>
        </p:nvSpPr>
        <p:spPr>
          <a:xfrm>
            <a:off x="3771900" y="35814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BFF943-FA1C-F361-1241-B5244E1A41C6}"/>
              </a:ext>
            </a:extLst>
          </p:cNvPr>
          <p:cNvSpPr/>
          <p:nvPr/>
        </p:nvSpPr>
        <p:spPr>
          <a:xfrm>
            <a:off x="4711700" y="35814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D0208B-327E-D469-11FA-B85DB16CBC91}"/>
              </a:ext>
            </a:extLst>
          </p:cNvPr>
          <p:cNvSpPr/>
          <p:nvPr/>
        </p:nvSpPr>
        <p:spPr>
          <a:xfrm>
            <a:off x="5651500" y="35814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072A37-E881-BDEF-5EDD-A3F9E38B6B57}"/>
              </a:ext>
            </a:extLst>
          </p:cNvPr>
          <p:cNvSpPr/>
          <p:nvPr/>
        </p:nvSpPr>
        <p:spPr>
          <a:xfrm>
            <a:off x="6591300" y="35814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67F312-3030-F76E-172C-1D97E670C000}"/>
              </a:ext>
            </a:extLst>
          </p:cNvPr>
          <p:cNvSpPr/>
          <p:nvPr/>
        </p:nvSpPr>
        <p:spPr>
          <a:xfrm>
            <a:off x="7531100" y="3581400"/>
            <a:ext cx="889000" cy="50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B5017-6299-4DE0-C45C-986A646FE01D}"/>
              </a:ext>
            </a:extLst>
          </p:cNvPr>
          <p:cNvSpPr txBox="1"/>
          <p:nvPr/>
        </p:nvSpPr>
        <p:spPr>
          <a:xfrm>
            <a:off x="3263900" y="3581400"/>
            <a:ext cx="4318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L2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1F3D8D-2FC6-5F07-B9BD-C4E0B1EFB600}"/>
              </a:ext>
            </a:extLst>
          </p:cNvPr>
          <p:cNvSpPr/>
          <p:nvPr/>
        </p:nvSpPr>
        <p:spPr>
          <a:xfrm>
            <a:off x="3771900" y="41402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FF5E46-9360-6819-317C-541E870309DA}"/>
              </a:ext>
            </a:extLst>
          </p:cNvPr>
          <p:cNvSpPr/>
          <p:nvPr/>
        </p:nvSpPr>
        <p:spPr>
          <a:xfrm>
            <a:off x="4711700" y="41402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8D7145-8F42-4064-E625-2FAC5B99C0D9}"/>
              </a:ext>
            </a:extLst>
          </p:cNvPr>
          <p:cNvSpPr/>
          <p:nvPr/>
        </p:nvSpPr>
        <p:spPr>
          <a:xfrm>
            <a:off x="5651500" y="4140200"/>
            <a:ext cx="889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9DF484-7BE9-2466-6E8D-C55E3C443F76}"/>
              </a:ext>
            </a:extLst>
          </p:cNvPr>
          <p:cNvSpPr/>
          <p:nvPr/>
        </p:nvSpPr>
        <p:spPr>
          <a:xfrm>
            <a:off x="6591300" y="41402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EA986-2B9E-2877-12C2-731B899DC7F6}"/>
              </a:ext>
            </a:extLst>
          </p:cNvPr>
          <p:cNvSpPr/>
          <p:nvPr/>
        </p:nvSpPr>
        <p:spPr>
          <a:xfrm>
            <a:off x="7531100" y="4140200"/>
            <a:ext cx="889000" cy="508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DEEC30-FB6D-DA24-376E-BAD82AFE697E}"/>
              </a:ext>
            </a:extLst>
          </p:cNvPr>
          <p:cNvSpPr txBox="1"/>
          <p:nvPr/>
        </p:nvSpPr>
        <p:spPr>
          <a:xfrm>
            <a:off x="3263900" y="4140200"/>
            <a:ext cx="4318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L1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60BEC9-3215-EAC2-A427-C361BF927858}"/>
              </a:ext>
            </a:extLst>
          </p:cNvPr>
          <p:cNvSpPr txBox="1"/>
          <p:nvPr/>
        </p:nvSpPr>
        <p:spPr>
          <a:xfrm>
            <a:off x="3771900" y="47498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I1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F9801A-CD4D-6389-4B61-638260EEE2A3}"/>
              </a:ext>
            </a:extLst>
          </p:cNvPr>
          <p:cNvSpPr txBox="1"/>
          <p:nvPr/>
        </p:nvSpPr>
        <p:spPr>
          <a:xfrm>
            <a:off x="4711700" y="47498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I2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4FC2D-1428-00F1-EB50-9D3EB8E6C4A2}"/>
              </a:ext>
            </a:extLst>
          </p:cNvPr>
          <p:cNvSpPr txBox="1"/>
          <p:nvPr/>
        </p:nvSpPr>
        <p:spPr>
          <a:xfrm>
            <a:off x="5651500" y="47498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I3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2D4CB-8336-0932-7262-899A576A5319}"/>
              </a:ext>
            </a:extLst>
          </p:cNvPr>
          <p:cNvSpPr txBox="1"/>
          <p:nvPr/>
        </p:nvSpPr>
        <p:spPr>
          <a:xfrm>
            <a:off x="6591300" y="47498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I4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B0388C-19DE-8E6C-58D2-262133534823}"/>
              </a:ext>
            </a:extLst>
          </p:cNvPr>
          <p:cNvSpPr txBox="1"/>
          <p:nvPr/>
        </p:nvSpPr>
        <p:spPr>
          <a:xfrm>
            <a:off x="7531100" y="4749800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</a:rPr>
              <a:t>I5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9C27D4-A28E-254D-9148-AD0BC7FDDF69}"/>
              </a:ext>
            </a:extLst>
          </p:cNvPr>
          <p:cNvSpPr txBox="1"/>
          <p:nvPr/>
        </p:nvSpPr>
        <p:spPr>
          <a:xfrm rot="16200000">
            <a:off x="508000" y="3048000"/>
            <a:ext cx="381000" cy="10926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64748B"/>
                </a:solidFill>
              </a:rPr>
              <a:t>Likelihood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231211-BCB9-3C24-84D7-F3FBD8300897}"/>
              </a:ext>
            </a:extLst>
          </p:cNvPr>
          <p:cNvSpPr txBox="1"/>
          <p:nvPr/>
        </p:nvSpPr>
        <p:spPr>
          <a:xfrm>
            <a:off x="508000" y="55245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i="1">
                <a:solidFill>
                  <a:srgbClr val="64748B"/>
                </a:solidFill>
              </a:rPr>
              <a:t>Impact increases left to right, likelihood increases bottom to top. Color shows overall severity, from low (green) to critical (red).</a:t>
            </a:r>
          </a:p>
        </p:txBody>
      </p:sp>
    </p:spTree>
    <p:extLst>
      <p:ext uri="{BB962C8B-B14F-4D97-AF65-F5344CB8AC3E}">
        <p14:creationId xmlns:p14="http://schemas.microsoft.com/office/powerpoint/2010/main" val="126391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E7CE2-8676-33A9-2698-82A02B5E7BCF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PROVE COMPLIANCE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54074-17E1-0275-ADAA-1E3DEB3711AB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Audit Management and Findings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5ACBF-67DA-463A-D0A5-96FB7E58E1DB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98D11D-C8FD-799D-D295-3892FE44907F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B8230-3B0F-D368-0A3C-BCEFE098B574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92606-0442-92F5-C538-DA6DBA6A98FE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Plan and schedule internal and external audits with full checklists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Record findings and non-conformities directly against the relevant control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Classify findings by severity - Major, Minor or Observation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Maintain a transparent record of open versus closed findings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Every finding traces back to the control, risk and requirement it affects</a:t>
            </a:r>
          </a:p>
        </p:txBody>
      </p:sp>
    </p:spTree>
    <p:extLst>
      <p:ext uri="{BB962C8B-B14F-4D97-AF65-F5344CB8AC3E}">
        <p14:creationId xmlns:p14="http://schemas.microsoft.com/office/powerpoint/2010/main" val="153832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EE5A0-DAD2-7DEA-AF70-F44631864409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CLOSE THE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4DFBB-FEE9-C4C0-45BE-BDD22C923388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CAPA and Continual Improvement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AA164-743F-4996-890C-9AFD936A932D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6DF48-DCEE-165B-E984-54EB038B1290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3741F-EF6E-D9B0-5995-405B693311E6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C59DA-DBAD-41F0-8666-0322C48CAD19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Corrective and Preventive Actions (CAPA) turn findings into tracked action plans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Break every CAPA into concrete, assignable action items with owners and due dates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Management Reviews formally record governance decisions each quarter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Improvement initiatives capture longer-term enhancements beyond a single finding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Nothing falls through the cracks between an audit and its resolution</a:t>
            </a:r>
          </a:p>
        </p:txBody>
      </p:sp>
    </p:spTree>
    <p:extLst>
      <p:ext uri="{BB962C8B-B14F-4D97-AF65-F5344CB8AC3E}">
        <p14:creationId xmlns:p14="http://schemas.microsoft.com/office/powerpoint/2010/main" val="122855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1B61F4-63C2-E663-77B3-76D7CBF92EDA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DAY-TO-DAY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0A0DB-C6BD-0E8D-3764-1C8D1CE9E432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Task, Evidence and Calendar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388C2-C173-B117-FB07-6404A7F7FDB3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99C6A-B614-5D9E-1B5E-F8C602BE1944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B4EE1-4922-C8E1-9FC9-51D6F3D0080D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23F03-CA1E-9F90-00D0-FF800D39C780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Kanban board gives every team member a clear view of their compliance tasks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Compliance Calendar highlights upcoming reviews, renewals and deadlines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Evidence Vault stores supporting documents and tracks expiry dates automatically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Reminders flag evidence expiring soon or actions running overdue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Keeps day-to-day compliance work organized without spreadsheets</a:t>
            </a:r>
          </a:p>
        </p:txBody>
      </p:sp>
    </p:spTree>
    <p:extLst>
      <p:ext uri="{BB962C8B-B14F-4D97-AF65-F5344CB8AC3E}">
        <p14:creationId xmlns:p14="http://schemas.microsoft.com/office/powerpoint/2010/main" val="56262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DE8C7-28AB-CCDC-C43B-638425D6D97B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BUILT FOR THE ENTERPRISE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F468D-5E72-6EA2-07B7-E01AE1E2116B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Multi-Tenant Organizations and User Roles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CE35C-C0D7-B4DC-DBF2-C58E143B9C9C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7078D-4CDB-FF59-1F86-6F507ACAB825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13667-C440-31BF-0EDD-24C573A8626D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4797A-2694-CC3A-8A52-623CEEEDB2B9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Supports multiple organizations or business units within a single platform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Role-based access ensures people only see and edit what applies to them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Secure sign-in protects sensitive compliance and risk data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Admins manage users, roles and organization settings from a dedicated console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Scales from a single company to a group of organizations</a:t>
            </a:r>
          </a:p>
        </p:txBody>
      </p:sp>
    </p:spTree>
    <p:extLst>
      <p:ext uri="{BB962C8B-B14F-4D97-AF65-F5344CB8AC3E}">
        <p14:creationId xmlns:p14="http://schemas.microsoft.com/office/powerpoint/2010/main" val="9207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AA733-97E6-D347-E409-46B712F38BCF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TRUST AND 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097A7-520E-0429-1CDF-67812F397727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Full Audit Trail - Every Change, Tracked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9637C-C8EF-2859-BFDB-5D5B05360BCF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4BED03-D7AD-42A7-8CC5-8EC5D52FDE9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52B41-04EB-875A-1AD2-EFC66CBCC523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D9403-C7EF-F2C8-850A-929DF9F820C8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Every create, update and delete across the platform is automatically recorded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 full before-and-after snapshot of each change, not just a log line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Answers who changed what, and when, for any record in the system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Supports internal governance, forensic review and external audit requests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Builds trust with auditors, regulators and leadership alike</a:t>
            </a:r>
          </a:p>
        </p:txBody>
      </p:sp>
    </p:spTree>
    <p:extLst>
      <p:ext uri="{BB962C8B-B14F-4D97-AF65-F5344CB8AC3E}">
        <p14:creationId xmlns:p14="http://schemas.microsoft.com/office/powerpoint/2010/main" val="3935721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E2DBE-018C-CCDF-CE49-5F45907F85C7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SEE THE WHOLE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1346D-54BD-5B20-9D62-930E9D7B74D2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Reporting and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11EF8-217E-C69D-9868-6BC0251EC943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D9BE2-2ED4-7FA7-DC37-66165BE6CA0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759FA-77DF-8405-25D4-8646030BF5BB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95E19-9406-5F40-F9D2-826FA971A59F}"/>
              </a:ext>
            </a:extLst>
          </p:cNvPr>
          <p:cNvSpPr txBox="1"/>
          <p:nvPr/>
        </p:nvSpPr>
        <p:spPr>
          <a:xfrm>
            <a:off x="508000" y="1778000"/>
            <a:ext cx="10922000" cy="21954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Compliance trend charts show progress month over month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One-click export of reports for management and external auditors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Traceability Engine instantly shows every related item for any record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Dashboard KPIs surface what needs attention today</a:t>
            </a:r>
          </a:p>
          <a:p>
            <a:pPr marL="342900" indent="-342900">
              <a:spcAft>
                <a:spcPts val="1400"/>
              </a:spcAft>
              <a:buClr>
                <a:srgbClr val="2563EB"/>
              </a:buClr>
              <a:buFont typeface="+mj-lt"/>
              <a:buChar char="•"/>
            </a:pPr>
            <a:r>
              <a:rPr lang="en-US">
                <a:solidFill>
                  <a:srgbClr val="1E293B"/>
                </a:solidFill>
              </a:rPr>
              <a:t>A data-driven view of compliance health, always current</a:t>
            </a:r>
          </a:p>
        </p:txBody>
      </p:sp>
    </p:spTree>
    <p:extLst>
      <p:ext uri="{BB962C8B-B14F-4D97-AF65-F5344CB8AC3E}">
        <p14:creationId xmlns:p14="http://schemas.microsoft.com/office/powerpoint/2010/main" val="596197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7B7D7-E232-CA73-6214-2DF7B879B2F2}"/>
              </a:ext>
            </a:extLst>
          </p:cNvPr>
          <p:cNvSpPr txBox="1"/>
          <p:nvPr/>
        </p:nvSpPr>
        <p:spPr>
          <a:xfrm>
            <a:off x="508000" y="279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</a:rPr>
              <a:t>THE BOTTOM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0ABD-E0D4-EDED-5C19-C23AA05E4A47}"/>
              </a:ext>
            </a:extLst>
          </p:cNvPr>
          <p:cNvSpPr txBox="1"/>
          <p:nvPr/>
        </p:nvSpPr>
        <p:spPr>
          <a:xfrm>
            <a:off x="508000" y="609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172A"/>
                </a:solidFill>
              </a:rPr>
              <a:t>Why ISOFlow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A788A-1135-9EA4-70D1-4CF803616146}"/>
              </a:ext>
            </a:extLst>
          </p:cNvPr>
          <p:cNvSpPr/>
          <p:nvPr/>
        </p:nvSpPr>
        <p:spPr>
          <a:xfrm>
            <a:off x="508000" y="1397000"/>
            <a:ext cx="1143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3CB2A-EA66-B55B-2DE0-2153CBEE25B9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tlCol="0" anchor="ctr"/>
          <a:lstStyle/>
          <a:p>
            <a:pPr algn="ctr"/>
            <a:r>
              <a:rPr lang="en-US" sz="1100">
                <a:solidFill>
                  <a:srgbClr val="E2E8F0"/>
                </a:solidFill>
              </a:rPr>
              <a:t>ISOFlow  -  ISO Compliance Management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0EB05-2706-5617-5CE7-1395C777B881}"/>
              </a:ext>
            </a:extLst>
          </p:cNvPr>
          <p:cNvSpPr txBox="1"/>
          <p:nvPr/>
        </p:nvSpPr>
        <p:spPr>
          <a:xfrm>
            <a:off x="11430000" y="6502400"/>
            <a:ext cx="63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rgbClr val="E2E8F0"/>
                </a:solidFill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CA4A61-7CB5-90D0-6883-C095D79C356E}"/>
              </a:ext>
            </a:extLst>
          </p:cNvPr>
          <p:cNvSpPr/>
          <p:nvPr/>
        </p:nvSpPr>
        <p:spPr>
          <a:xfrm>
            <a:off x="508000" y="1841500"/>
            <a:ext cx="5334000" cy="1905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28600" rIns="2540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Always Audit-Ready</a:t>
            </a:r>
          </a:p>
          <a:p>
            <a:pPr algn="ctr"/>
            <a:r>
              <a:rPr lang="en-US" sz="1400">
                <a:solidFill>
                  <a:srgbClr val="E2E8F0"/>
                </a:solidFill>
              </a:rPr>
              <a:t>No more scrambling before assessments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CE1106-AD29-255A-8652-3672807A2E8A}"/>
              </a:ext>
            </a:extLst>
          </p:cNvPr>
          <p:cNvSpPr/>
          <p:nvPr/>
        </p:nvSpPr>
        <p:spPr>
          <a:xfrm>
            <a:off x="508000" y="1841500"/>
            <a:ext cx="101600" cy="1905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ACCB50-7C58-4142-2185-2B9451F53AC5}"/>
              </a:ext>
            </a:extLst>
          </p:cNvPr>
          <p:cNvSpPr/>
          <p:nvPr/>
        </p:nvSpPr>
        <p:spPr>
          <a:xfrm>
            <a:off x="6096000" y="1841500"/>
            <a:ext cx="5334000" cy="1905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28600" rIns="2540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One Source of Truth</a:t>
            </a:r>
          </a:p>
          <a:p>
            <a:pPr algn="ctr"/>
            <a:r>
              <a:rPr lang="en-US" sz="1400">
                <a:solidFill>
                  <a:srgbClr val="E2E8F0"/>
                </a:solidFill>
              </a:rPr>
              <a:t>Every team works from the same live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ED729-833B-9F57-52C7-4C9391EB3FE5}"/>
              </a:ext>
            </a:extLst>
          </p:cNvPr>
          <p:cNvSpPr/>
          <p:nvPr/>
        </p:nvSpPr>
        <p:spPr>
          <a:xfrm>
            <a:off x="6096000" y="1841500"/>
            <a:ext cx="101600" cy="1905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0939C2-9305-7C73-D91A-177006F5EE8E}"/>
              </a:ext>
            </a:extLst>
          </p:cNvPr>
          <p:cNvSpPr/>
          <p:nvPr/>
        </p:nvSpPr>
        <p:spPr>
          <a:xfrm>
            <a:off x="508000" y="4000500"/>
            <a:ext cx="5334000" cy="1905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28600" rIns="2540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Full Traceability</a:t>
            </a:r>
          </a:p>
          <a:p>
            <a:pPr algn="ctr"/>
            <a:r>
              <a:rPr lang="en-US" sz="1400">
                <a:solidFill>
                  <a:srgbClr val="E2E8F0"/>
                </a:solidFill>
              </a:rPr>
              <a:t>From standard clause to closed improvement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7D2A23-0774-D4D0-BFD4-F5FCE42411AB}"/>
              </a:ext>
            </a:extLst>
          </p:cNvPr>
          <p:cNvSpPr/>
          <p:nvPr/>
        </p:nvSpPr>
        <p:spPr>
          <a:xfrm>
            <a:off x="508000" y="4000500"/>
            <a:ext cx="101600" cy="1905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FF1071-171B-4144-43C4-FCC9639B6017}"/>
              </a:ext>
            </a:extLst>
          </p:cNvPr>
          <p:cNvSpPr/>
          <p:nvPr/>
        </p:nvSpPr>
        <p:spPr>
          <a:xfrm>
            <a:off x="6096000" y="4000500"/>
            <a:ext cx="5334000" cy="1905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28600" rIns="2540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Lower-Risk Compliance</a:t>
            </a:r>
          </a:p>
          <a:p>
            <a:pPr algn="ctr"/>
            <a:r>
              <a:rPr lang="en-US" sz="1400">
                <a:solidFill>
                  <a:srgbClr val="E2E8F0"/>
                </a:solidFill>
              </a:rPr>
              <a:t>Less manual work, fewer gaps missed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250E4A-5513-38DD-6C43-FBC6F5BE338F}"/>
              </a:ext>
            </a:extLst>
          </p:cNvPr>
          <p:cNvSpPr/>
          <p:nvPr/>
        </p:nvSpPr>
        <p:spPr>
          <a:xfrm>
            <a:off x="6096000" y="4000500"/>
            <a:ext cx="101600" cy="1905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92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0E8E3-FD70-EC02-DBA1-D72364A6244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A8B5F-0FAB-0661-2AEB-A0CFB53D7E2A}"/>
              </a:ext>
            </a:extLst>
          </p:cNvPr>
          <p:cNvSpPr txBox="1"/>
          <p:nvPr/>
        </p:nvSpPr>
        <p:spPr>
          <a:xfrm>
            <a:off x="762000" y="2540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Let's discuss how ISOFlow fits your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D14C4-A834-B05A-5A32-978FCD1F38AF}"/>
              </a:ext>
            </a:extLst>
          </p:cNvPr>
          <p:cNvSpPr txBox="1"/>
          <p:nvPr/>
        </p:nvSpPr>
        <p:spPr>
          <a:xfrm>
            <a:off x="787400" y="35560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60A5FA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2879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Custom</PresentationFormat>
  <Paragraphs>208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Chirag Baroliya - DevRepublic</dc:creator>
  <cp:lastModifiedBy>Chirag Baroliya - DevRepublic</cp:lastModifiedBy>
  <cp:revision>1</cp:revision>
  <dcterms:created xsi:type="dcterms:W3CDTF">2026-09-05T06:26:59Z</dcterms:created>
  <dcterms:modified xsi:type="dcterms:W3CDTF">2026-09-05T06:26:59Z</dcterms:modified>
</cp:coreProperties>
</file>